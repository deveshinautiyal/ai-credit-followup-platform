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2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604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03A8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B4A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2377440" cy="347472"/>
          </a:xfrm>
          <a:prstGeom prst="roundRect">
            <a:avLst>
              <a:gd name="adj" fmla="val 52632"/>
            </a:avLst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</a:rPr>
              <a:t>AI FINANCE </a:t>
            </a:r>
            <a:r>
              <a:rPr lang="en-US" sz="900" b="1" dirty="0" err="1" smtClean="0">
                <a:solidFill>
                  <a:srgbClr val="FFFFFF"/>
                </a:solidFill>
              </a:rPr>
              <a:t>FOLLOWUP</a:t>
            </a:r>
            <a:r>
              <a:rPr lang="en-US" sz="900" b="1" dirty="0" smtClean="0">
                <a:solidFill>
                  <a:srgbClr val="FFFFFF"/>
                </a:solidFill>
              </a:rPr>
              <a:t> CREDIT </a:t>
            </a:r>
            <a:r>
              <a:rPr lang="en-US" sz="900" b="1" dirty="0">
                <a:solidFill>
                  <a:srgbClr val="FFFFFF"/>
                </a:solidFill>
              </a:rPr>
              <a:t>AGENT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Follow-Up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Agent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2423160" cy="384048"/>
          </a:xfrm>
          <a:prstGeom prst="roundRect">
            <a:avLst>
              <a:gd name="adj" fmla="val 47619"/>
            </a:avLst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2461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AI-Powered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3246120"/>
            <a:ext cx="2423160" cy="384048"/>
          </a:xfrm>
          <a:prstGeom prst="roundRect">
            <a:avLst>
              <a:gd name="adj" fmla="val 47619"/>
            </a:avLst>
          </a:prstGeom>
          <a:solidFill>
            <a:srgbClr val="1A3A8F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32461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Tone-Aware Escalation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3246120"/>
            <a:ext cx="2423160" cy="384048"/>
          </a:xfrm>
          <a:prstGeom prst="roundRect">
            <a:avLst>
              <a:gd name="adj" fmla="val 47619"/>
            </a:avLst>
          </a:prstGeom>
          <a:solidFill>
            <a:srgbClr val="0E7063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32461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Full Audit Trail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3200400" cy="777240"/>
          </a:xfrm>
          <a:prstGeom prst="rect">
            <a:avLst/>
          </a:prstGeom>
          <a:solidFill>
            <a:srgbClr val="16215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931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Deveshi Nautiyal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315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C80"/>
                </a:solidFill>
              </a:rPr>
              <a:t>UPES Dehradun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164592" y="6400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4592" y="2331720"/>
            <a:ext cx="14630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24688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Waste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Chasing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54680" y="256032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54680" y="256032"/>
            <a:ext cx="2834640" cy="16459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512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19272" y="9692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Time-Consuming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9272" y="142646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draft individual emails for dozens of overdue invoices — repetitive, error-prone work.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53912" y="256032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53912" y="256032"/>
            <a:ext cx="2834640" cy="16459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3" name="Text 11"/>
          <p:cNvSpPr/>
          <p:nvPr/>
        </p:nvSpPr>
        <p:spPr>
          <a:xfrm>
            <a:off x="6318504" y="512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18504" y="9692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18504" y="142646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escalation path. Different writers damage client relationships.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265176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2651760"/>
            <a:ext cx="2834640" cy="16459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8" name="Text 16"/>
          <p:cNvSpPr/>
          <p:nvPr/>
        </p:nvSpPr>
        <p:spPr>
          <a:xfrm>
            <a:off x="3319272" y="29077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9272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9272" y="382219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sent what, when, to whom? Compliance gaps are common with manual follow-ups.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53912" y="265176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53912" y="2651760"/>
            <a:ext cx="2834640" cy="16459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3" name="Text 21"/>
          <p:cNvSpPr/>
          <p:nvPr/>
        </p:nvSpPr>
        <p:spPr>
          <a:xfrm>
            <a:off x="6318504" y="29077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18504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DSO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18504" y="382219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 Outstanding climbs as payment follow-ups slip through the cracks.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3A8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329184"/>
          </a:xfrm>
          <a:prstGeom prst="roundRect">
            <a:avLst>
              <a:gd name="adj" fmla="val 55556"/>
            </a:avLst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Does It All — Automatically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overdue invoices · Detects escalation stage · Generates personalised emails via Gemini 2.0 Flash · Logs every action with PII masking · Live Streamlit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215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57400"/>
            <a:ext cx="192024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67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187192"/>
            <a:ext cx="1828800" cy="281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2075688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2152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2057400"/>
            <a:ext cx="192024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2167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2148840"/>
            <a:ext cx="1828800" cy="245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215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057400"/>
            <a:ext cx="192024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167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0600" y="2187192"/>
            <a:ext cx="1828800" cy="190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2057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2152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2057400"/>
            <a:ext cx="192024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167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2084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Generation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215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474720"/>
            <a:ext cx="192024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584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" y="3682767"/>
            <a:ext cx="1828800" cy="284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3474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2152"/>
          </a:solidFill>
          <a:ln/>
        </p:spPr>
      </p:sp>
      <p:sp>
        <p:nvSpPr>
          <p:cNvPr id="28" name="Shape 26"/>
          <p:cNvSpPr/>
          <p:nvPr/>
        </p:nvSpPr>
        <p:spPr>
          <a:xfrm>
            <a:off x="2606040" y="3474720"/>
            <a:ext cx="192024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3584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651760" y="3584448"/>
            <a:ext cx="1828800" cy="44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Audit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2152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3474720"/>
            <a:ext cx="192024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584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800600" y="3566160"/>
            <a:ext cx="1828800" cy="343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3483052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62152"/>
          </a:solidFill>
          <a:ln/>
        </p:spPr>
      </p:sp>
      <p:sp>
        <p:nvSpPr>
          <p:cNvPr id="36" name="Shape 34"/>
          <p:cNvSpPr/>
          <p:nvPr/>
        </p:nvSpPr>
        <p:spPr>
          <a:xfrm>
            <a:off x="6903720" y="3474720"/>
            <a:ext cx="192024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3584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949440" y="3528772"/>
            <a:ext cx="1828800" cy="306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0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60" y="2603168"/>
            <a:ext cx="1324960" cy="414351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602" y="2368296"/>
            <a:ext cx="1056431" cy="85835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5"/>
          <a:srcRect l="12796" r="11821" b="10038"/>
          <a:stretch/>
        </p:blipFill>
        <p:spPr>
          <a:xfrm>
            <a:off x="6972760" y="2660568"/>
            <a:ext cx="1759760" cy="43304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973" y="3835306"/>
            <a:ext cx="1666054" cy="72400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034" y="3881026"/>
            <a:ext cx="1374925" cy="68645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070" y="4105656"/>
            <a:ext cx="1420499" cy="28178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9465" y="3995928"/>
            <a:ext cx="1187379" cy="509835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6842" y="2439694"/>
            <a:ext cx="1353643" cy="6539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ReAct-Style Pipeline · No Framework Overhead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1783080"/>
            <a:ext cx="457200" cy="3657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2057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pandas.read_csv()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1783080"/>
            <a:ext cx="457200" cy="3657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128016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74520" y="192024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47672" y="2057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606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get_stage(days_overdue)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783080"/>
            <a:ext cx="457200" cy="3657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128016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92024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10712" y="2057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Generation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606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+ Pydantic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1783080"/>
            <a:ext cx="457200" cy="3657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128016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92024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73752" y="2057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Send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606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logs/dry_run.jsonl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1783080"/>
            <a:ext cx="457200" cy="3657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128016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192024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36792" y="2057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606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PII Mask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01000" y="128016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26680" y="192024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99832" y="2057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2606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Report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7033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794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Stage 5 Bypass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EscalationFlag Pydantic model intercepts Stage 5 invoices before any API call — no email generated, flagged for legal review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228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6"/>
                </a:solidFill>
              </a:rPr>
              <a:t>ESCALATION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Tone Escalation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1005840" cy="38404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88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53312" y="1188720"/>
            <a:ext cx="914400" cy="38404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Trigger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7712" y="1188720"/>
            <a:ext cx="1463040" cy="38404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10" name="Text 8"/>
          <p:cNvSpPr/>
          <p:nvPr/>
        </p:nvSpPr>
        <p:spPr>
          <a:xfrm>
            <a:off x="2267712" y="1188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0752" y="1188720"/>
            <a:ext cx="2743200" cy="38404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Message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73952" y="1188720"/>
            <a:ext cx="1920240" cy="38404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600200"/>
            <a:ext cx="1005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600200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53312" y="1600200"/>
            <a:ext cx="9144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6464" y="1600200"/>
            <a:ext cx="7680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1–7 days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67712" y="1600200"/>
            <a:ext cx="1463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40864" y="1600200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&amp; Friendly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30752" y="1600200"/>
            <a:ext cx="27432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03904" y="1600200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reminder, assume oversight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73952" y="1600200"/>
            <a:ext cx="1920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1600200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now link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2258568"/>
            <a:ext cx="100584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258568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53312" y="2258568"/>
            <a:ext cx="91440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26464" y="2258568"/>
            <a:ext cx="7680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 days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67712" y="2258568"/>
            <a:ext cx="146304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40864" y="2258568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but Firm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30752" y="2258568"/>
            <a:ext cx="274320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03904" y="2258568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still pending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73952" y="2258568"/>
            <a:ext cx="192024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2258568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 date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2916936"/>
            <a:ext cx="1005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2916936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53312" y="2916936"/>
            <a:ext cx="9144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26464" y="2916936"/>
            <a:ext cx="7680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15–21 days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67712" y="2916936"/>
            <a:ext cx="1463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40864" y="2916936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&amp; Serious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730752" y="2916936"/>
            <a:ext cx="27432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03904" y="2916936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concern, credit impact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73952" y="2916936"/>
            <a:ext cx="1920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47104" y="2916936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within 48 hrs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7472" y="3575304"/>
            <a:ext cx="100584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3575304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353312" y="3575304"/>
            <a:ext cx="91440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26464" y="3575304"/>
            <a:ext cx="7680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22–30 days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67712" y="3575304"/>
            <a:ext cx="146304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40864" y="3575304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&amp; Urgent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730752" y="3575304"/>
            <a:ext cx="274320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03904" y="3575304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reminder before escalation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73952" y="3575304"/>
            <a:ext cx="1920240" cy="62179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47104" y="3575304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immediately or call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7472" y="4233672"/>
            <a:ext cx="1005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4233672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353312" y="4233672"/>
            <a:ext cx="9144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26464" y="4233672"/>
            <a:ext cx="7680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267712" y="4233672"/>
            <a:ext cx="1463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40864" y="4233672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Legal Flag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30752" y="4233672"/>
            <a:ext cx="27432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03904" y="4233672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required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73952" y="4233672"/>
            <a:ext cx="1920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47104" y="4233672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finance manager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3A8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371600" cy="320040"/>
          </a:xfrm>
          <a:prstGeom prst="roundRect">
            <a:avLst>
              <a:gd name="adj" fmla="val 57143"/>
            </a:avLst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 on 7 Invoices — ₹9.2L Overdue Portfolio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2011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25786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46320" y="25786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088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40880" y="25786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2318" y="3220366"/>
            <a:ext cx="8321040" cy="1691640"/>
          </a:xfrm>
          <a:prstGeom prst="roundRect">
            <a:avLst>
              <a:gd name="adj" fmla="val 6486"/>
            </a:avLst>
          </a:prstGeom>
          <a:solidFill>
            <a:srgbClr val="0D1A3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246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 Highlights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3950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4224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44988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18" y="1125444"/>
            <a:ext cx="8694170" cy="186716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4"/>
          <a:srcRect t="17637"/>
          <a:stretch/>
        </p:blipFill>
        <p:spPr>
          <a:xfrm>
            <a:off x="410642" y="3544279"/>
            <a:ext cx="8596198" cy="13677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6"/>
                </a:solidFill>
              </a:rPr>
              <a:t>TECHNICAL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Trade-offs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128016" cy="11887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API; 1M context; strong JSON instruction-following; no credit card needed for internship use.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128016" cy="11887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801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6916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LangChain/CrewAI overhead. Linear workflow is easier to debug. Audit logic stays explicit.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606040"/>
            <a:ext cx="128016" cy="11887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US" sz="1300" b="1" dirty="0" smtClean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EmailOutput &amp; EscalationFlag models enforce schema — hallucinations are rejected before any email is sent.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60604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606040"/>
            <a:ext cx="128016" cy="11887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6974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python-dotenv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1089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audit storage. API key loaded from .env, never hardcoded. PII masked via _mask() utility.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402336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14600" y="4023360"/>
            <a:ext cx="128016" cy="11887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41148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300" b="1" dirty="0" smtClean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45262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UI build — metrics, invoice queue, email previews, and scrollable audit table in under 200 lines.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6"/>
                </a:solidFill>
              </a:rPr>
              <a:t>SECURITY MITIGATIONS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Production Readiness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62152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34440"/>
            <a:ext cx="274320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399032"/>
            <a:ext cx="2606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passed as structured key-value pairs, not raw concatenation. Pydantic rejects unexpected output.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64992" y="12344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62152"/>
          </a:solidFill>
          <a:ln/>
        </p:spPr>
      </p:sp>
      <p:sp>
        <p:nvSpPr>
          <p:cNvPr id="10" name="Shape 8"/>
          <p:cNvSpPr/>
          <p:nvPr/>
        </p:nvSpPr>
        <p:spPr>
          <a:xfrm>
            <a:off x="3364992" y="1234440"/>
            <a:ext cx="274320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2152" y="14904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Data Privacy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2152" y="21488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emails masked in all logs (abc***@domain.com). CSV data sent per-row only — not in bulk.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18504" y="12344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62152"/>
          </a:solidFill>
          <a:ln/>
        </p:spPr>
      </p:sp>
      <p:sp>
        <p:nvSpPr>
          <p:cNvPr id="15" name="Shape 13"/>
          <p:cNvSpPr/>
          <p:nvPr/>
        </p:nvSpPr>
        <p:spPr>
          <a:xfrm>
            <a:off x="6318504" y="1234440"/>
            <a:ext cx="274320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55664" y="1371600"/>
            <a:ext cx="2468880" cy="515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Exposure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55664" y="21488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python-dotenv from .env (in .gitignore). .env.example ships with placeholder values only.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953512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62152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953512"/>
            <a:ext cx="274320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090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32095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8679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EmailOutput rejects empty fields. Financial data injected from CSV post-generation. Temp = 0.2.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0142" y="2999232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62152"/>
          </a:solidFill>
          <a:ln/>
        </p:spPr>
      </p:sp>
      <p:sp>
        <p:nvSpPr>
          <p:cNvPr id="25" name="Shape 23"/>
          <p:cNvSpPr/>
          <p:nvPr/>
        </p:nvSpPr>
        <p:spPr>
          <a:xfrm>
            <a:off x="3364992" y="2953512"/>
            <a:ext cx="274320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6" name="Text 24"/>
          <p:cNvSpPr/>
          <p:nvPr/>
        </p:nvSpPr>
        <p:spPr>
          <a:xfrm>
            <a:off x="3364992" y="3090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502152" y="3136392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Trigger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02152" y="38679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mode is default ON. No exposed HTTP endpoint — local execution only.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18504" y="2953512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62152"/>
          </a:solidFill>
          <a:ln/>
        </p:spPr>
      </p:sp>
      <p:sp>
        <p:nvSpPr>
          <p:cNvPr id="30" name="Shape 28"/>
          <p:cNvSpPr/>
          <p:nvPr/>
        </p:nvSpPr>
        <p:spPr>
          <a:xfrm>
            <a:off x="6318504" y="2953512"/>
            <a:ext cx="2743200" cy="91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1" name="Text 29"/>
          <p:cNvSpPr/>
          <p:nvPr/>
        </p:nvSpPr>
        <p:spPr>
          <a:xfrm>
            <a:off x="6318504" y="3090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88804" y="3136392"/>
            <a:ext cx="25357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Escalation Leak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55664" y="38679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EscalationFlag model hard-exits before API call for Stage 5. No email generated, ever.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228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6"/>
                </a:solidFill>
              </a:rPr>
              <a:t>KEY LEARNINGS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Taught 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435608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4712" y="14356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Iterative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98424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produced hallucinated data. v2 added field constraints. v3 added 'NEVER use markdown' + regex fallback. Three iterations to get reliable JSON output.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82312" y="123444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435608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59552" y="14356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Is a Superpower for Agents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5192" y="198424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Literal['ESCALATE_TO_LEGAL'] made Stage 5 handling deterministic — no if/else chains, no runtime surprises. Schema validation caught errors early.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0175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3218688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" y="3218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Pipelines Over Frameworks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7673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adds abstraction that makes debugging harder. A 150-line custom ReAct loop is easier to trace, audit, and extend than a framework-wrapped equivalent.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82312" y="30175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1B2B5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3218688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9552" y="3218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First, Always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5192" y="37673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dry-run mode before real send capability forced me to design the audit trail first. The log format became the source of truth for the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03A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00B4A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Follow-Up Email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CSV → AI → Email in one automated loop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8833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5-stage tone escalation 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63824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Pydantic hallucination guard + PII masking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639312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Streamlit dashboard with full audit trail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206240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16215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51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Deveshi Nautiyal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599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UPES Dehradun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742</Words>
  <Application>Microsoft Office PowerPoint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Follow-Up Email Agent</dc:title>
  <dc:subject>PptxGenJS Presentation</dc:subject>
  <dc:creator>Deveshi</dc:creator>
  <cp:lastModifiedBy>HP</cp:lastModifiedBy>
  <cp:revision>4</cp:revision>
  <dcterms:created xsi:type="dcterms:W3CDTF">2026-05-14T02:33:09Z</dcterms:created>
  <dcterms:modified xsi:type="dcterms:W3CDTF">2026-05-14T03:02:08Z</dcterms:modified>
</cp:coreProperties>
</file>